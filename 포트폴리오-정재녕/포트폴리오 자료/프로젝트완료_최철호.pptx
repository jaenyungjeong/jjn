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Source Han Serif KR" charset="1" panose="020204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https://choicholho.github.io/SW19/" TargetMode="External" Type="http://schemas.openxmlformats.org/officeDocument/2006/relationships/hyperlink"/><Relationship Id="rId5" Target="https://choicholho.github.io/SW19/" TargetMode="External" Type="http://schemas.openxmlformats.org/officeDocument/2006/relationships/hyperlink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FE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5262" y="0"/>
            <a:ext cx="18596968" cy="8464556"/>
            <a:chOff x="0" y="0"/>
            <a:chExt cx="4897967" cy="222934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7967" cy="2229348"/>
            </a:xfrm>
            <a:custGeom>
              <a:avLst/>
              <a:gdLst/>
              <a:ahLst/>
              <a:cxnLst/>
              <a:rect r="r" b="b" t="t" l="l"/>
              <a:pathLst>
                <a:path h="2229348" w="4897967">
                  <a:moveTo>
                    <a:pt x="0" y="0"/>
                  </a:moveTo>
                  <a:lnTo>
                    <a:pt x="4897967" y="0"/>
                  </a:lnTo>
                  <a:lnTo>
                    <a:pt x="4897967" y="2229348"/>
                  </a:lnTo>
                  <a:lnTo>
                    <a:pt x="0" y="2229348"/>
                  </a:lnTo>
                  <a:close/>
                </a:path>
              </a:pathLst>
            </a:custGeom>
            <a:solidFill>
              <a:srgbClr val="6F7D6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97967" cy="22769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428750" y="2503207"/>
            <a:ext cx="5851676" cy="0"/>
          </a:xfrm>
          <a:prstGeom prst="line">
            <a:avLst/>
          </a:prstGeom>
          <a:ln cap="flat" w="57150">
            <a:solidFill>
              <a:srgbClr val="EFE9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428750" y="5916672"/>
            <a:ext cx="5851676" cy="0"/>
          </a:xfrm>
          <a:prstGeom prst="line">
            <a:avLst/>
          </a:prstGeom>
          <a:ln cap="flat" w="19050">
            <a:solidFill>
              <a:srgbClr val="EFE9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428750" y="3722597"/>
            <a:ext cx="6411863" cy="1698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spc="-299">
                <a:solidFill>
                  <a:srgbClr val="EFE9E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SW19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8750" y="2874832"/>
            <a:ext cx="5354635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spc="-155">
                <a:solidFill>
                  <a:srgbClr val="EFE9E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최철호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28750" y="1199214"/>
            <a:ext cx="2128794" cy="0"/>
          </a:xfrm>
          <a:prstGeom prst="line">
            <a:avLst/>
          </a:prstGeom>
          <a:ln cap="flat" w="57150">
            <a:solidFill>
              <a:srgbClr val="6F7D6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428750" y="3173724"/>
            <a:ext cx="2128794" cy="0"/>
          </a:xfrm>
          <a:prstGeom prst="line">
            <a:avLst/>
          </a:prstGeom>
          <a:ln cap="flat" w="19050">
            <a:solidFill>
              <a:srgbClr val="6F7D6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8311681" y="2176543"/>
            <a:ext cx="644007" cy="644007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7D6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311681" y="3240980"/>
            <a:ext cx="644007" cy="644007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7D6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311681" y="4305416"/>
            <a:ext cx="644007" cy="64400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7D6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311681" y="5369853"/>
            <a:ext cx="644007" cy="64400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7D6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311681" y="6434289"/>
            <a:ext cx="644007" cy="64400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7D6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311681" y="7466450"/>
            <a:ext cx="644007" cy="64400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7D6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28750" y="4714465"/>
            <a:ext cx="5014128" cy="5572535"/>
            <a:chOff x="0" y="0"/>
            <a:chExt cx="6685505" cy="7430046"/>
          </a:xfrm>
        </p:grpSpPr>
        <p:pic>
          <p:nvPicPr>
            <p:cNvPr name="Picture 23" id="23"/>
            <p:cNvPicPr>
              <a:picLocks noChangeAspect="true"/>
            </p:cNvPicPr>
            <p:nvPr/>
          </p:nvPicPr>
          <p:blipFill>
            <a:blip r:embed="rId2"/>
            <a:srcRect l="24693" t="0" r="24693" b="0"/>
            <a:stretch>
              <a:fillRect/>
            </a:stretch>
          </p:blipFill>
          <p:spPr>
            <a:xfrm flipH="false" flipV="false">
              <a:off x="0" y="0"/>
              <a:ext cx="6685505" cy="7430046"/>
            </a:xfrm>
            <a:prstGeom prst="rect">
              <a:avLst/>
            </a:prstGeom>
          </p:spPr>
        </p:pic>
      </p:grpSp>
      <p:sp>
        <p:nvSpPr>
          <p:cNvPr name="TextBox 24" id="24"/>
          <p:cNvSpPr txBox="true"/>
          <p:nvPr/>
        </p:nvSpPr>
        <p:spPr>
          <a:xfrm rot="0">
            <a:off x="1428750" y="1567344"/>
            <a:ext cx="2673527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목차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75848" y="1862218"/>
            <a:ext cx="7322748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4200">
                <a:solidFill>
                  <a:srgbClr val="00000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제작의도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75848" y="2926655"/>
            <a:ext cx="7322748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4200">
                <a:solidFill>
                  <a:srgbClr val="00000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메뉴 구성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404921" y="1921331"/>
            <a:ext cx="457528" cy="824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3600">
                <a:solidFill>
                  <a:srgbClr val="EFE9E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404921" y="2985768"/>
            <a:ext cx="457528" cy="824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3600">
                <a:solidFill>
                  <a:srgbClr val="EFE9E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75848" y="3991091"/>
            <a:ext cx="7322748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4200">
                <a:solidFill>
                  <a:srgbClr val="00000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디자인 컨셉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404921" y="4050205"/>
            <a:ext cx="457528" cy="824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3600">
                <a:solidFill>
                  <a:srgbClr val="EFE9E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75848" y="5076541"/>
            <a:ext cx="7322748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4200">
                <a:solidFill>
                  <a:srgbClr val="00000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화면 설계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404921" y="5114641"/>
            <a:ext cx="457528" cy="824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3600">
                <a:solidFill>
                  <a:srgbClr val="EFE9E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4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75848" y="6119964"/>
            <a:ext cx="7322748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4200">
                <a:solidFill>
                  <a:srgbClr val="00000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디자인 시안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75848" y="7152125"/>
            <a:ext cx="7322748" cy="95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4200">
                <a:solidFill>
                  <a:srgbClr val="00000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SW19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404921" y="6179078"/>
            <a:ext cx="457528" cy="824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3600">
                <a:solidFill>
                  <a:srgbClr val="EFE9E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5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404921" y="7211239"/>
            <a:ext cx="457528" cy="824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3600">
                <a:solidFill>
                  <a:srgbClr val="EFE9E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EFE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8750" y="3886834"/>
            <a:ext cx="3535295" cy="4359851"/>
            <a:chOff x="0" y="0"/>
            <a:chExt cx="931106" cy="11482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1106" cy="1148274"/>
            </a:xfrm>
            <a:custGeom>
              <a:avLst/>
              <a:gdLst/>
              <a:ahLst/>
              <a:cxnLst/>
              <a:rect r="r" b="b" t="t" l="l"/>
              <a:pathLst>
                <a:path h="1148274" w="931106">
                  <a:moveTo>
                    <a:pt x="0" y="0"/>
                  </a:moveTo>
                  <a:lnTo>
                    <a:pt x="931106" y="0"/>
                  </a:lnTo>
                  <a:lnTo>
                    <a:pt x="931106" y="1148274"/>
                  </a:lnTo>
                  <a:lnTo>
                    <a:pt x="0" y="1148274"/>
                  </a:lnTo>
                  <a:close/>
                </a:path>
              </a:pathLst>
            </a:custGeom>
            <a:solidFill>
              <a:srgbClr val="6F7D6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931106" cy="1176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52469" y="6941052"/>
            <a:ext cx="2715079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EFE9E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브랜드 스토리 전달력 부족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52469" y="4120127"/>
            <a:ext cx="731749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652"/>
              </a:lnSpc>
              <a:spcBef>
                <a:spcPct val="0"/>
              </a:spcBef>
            </a:pPr>
            <a:r>
              <a:rPr lang="en-US" sz="3600" u="none">
                <a:solidFill>
                  <a:srgbClr val="EFE9E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01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358053" y="3886834"/>
            <a:ext cx="3535295" cy="4359851"/>
            <a:chOff x="0" y="0"/>
            <a:chExt cx="931106" cy="114827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31106" cy="1148274"/>
            </a:xfrm>
            <a:custGeom>
              <a:avLst/>
              <a:gdLst/>
              <a:ahLst/>
              <a:cxnLst/>
              <a:rect r="r" b="b" t="t" l="l"/>
              <a:pathLst>
                <a:path h="1148274" w="931106">
                  <a:moveTo>
                    <a:pt x="0" y="0"/>
                  </a:moveTo>
                  <a:lnTo>
                    <a:pt x="931106" y="0"/>
                  </a:lnTo>
                  <a:lnTo>
                    <a:pt x="931106" y="1148274"/>
                  </a:lnTo>
                  <a:lnTo>
                    <a:pt x="0" y="1148274"/>
                  </a:lnTo>
                  <a:close/>
                </a:path>
              </a:pathLst>
            </a:custGeom>
            <a:solidFill>
              <a:srgbClr val="6F7D6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931106" cy="1176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681772" y="6941052"/>
            <a:ext cx="2715079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EFE9E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매력적인 감성 전달 부족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81772" y="4120127"/>
            <a:ext cx="731749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652"/>
              </a:lnSpc>
              <a:spcBef>
                <a:spcPct val="0"/>
              </a:spcBef>
            </a:pPr>
            <a:r>
              <a:rPr lang="en-US" sz="3600" u="none">
                <a:solidFill>
                  <a:srgbClr val="EFE9E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03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322704" y="3886834"/>
            <a:ext cx="3535295" cy="4359851"/>
            <a:chOff x="0" y="0"/>
            <a:chExt cx="931106" cy="11482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1106" cy="1148274"/>
            </a:xfrm>
            <a:custGeom>
              <a:avLst/>
              <a:gdLst/>
              <a:ahLst/>
              <a:cxnLst/>
              <a:rect r="r" b="b" t="t" l="l"/>
              <a:pathLst>
                <a:path h="1148274" w="931106">
                  <a:moveTo>
                    <a:pt x="0" y="0"/>
                  </a:moveTo>
                  <a:lnTo>
                    <a:pt x="931106" y="0"/>
                  </a:lnTo>
                  <a:lnTo>
                    <a:pt x="931106" y="1148274"/>
                  </a:lnTo>
                  <a:lnTo>
                    <a:pt x="0" y="1148274"/>
                  </a:lnTo>
                  <a:close/>
                </a:path>
              </a:pathLst>
            </a:custGeom>
            <a:solidFill>
              <a:srgbClr val="6F7D6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931106" cy="1176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646424" y="6941052"/>
            <a:ext cx="2715079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EFE9E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비주얼 아이덴티티가 부재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54255" y="4120127"/>
            <a:ext cx="731749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652"/>
              </a:lnSpc>
              <a:spcBef>
                <a:spcPct val="0"/>
              </a:spcBef>
            </a:pPr>
            <a:r>
              <a:rPr lang="en-US" sz="3600" u="none">
                <a:solidFill>
                  <a:srgbClr val="EFE9E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04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393401" y="3886834"/>
            <a:ext cx="3535295" cy="4359851"/>
            <a:chOff x="0" y="0"/>
            <a:chExt cx="931106" cy="114827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31106" cy="1148274"/>
            </a:xfrm>
            <a:custGeom>
              <a:avLst/>
              <a:gdLst/>
              <a:ahLst/>
              <a:cxnLst/>
              <a:rect r="r" b="b" t="t" l="l"/>
              <a:pathLst>
                <a:path h="1148274" w="931106">
                  <a:moveTo>
                    <a:pt x="0" y="0"/>
                  </a:moveTo>
                  <a:lnTo>
                    <a:pt x="931106" y="0"/>
                  </a:lnTo>
                  <a:lnTo>
                    <a:pt x="931106" y="1148274"/>
                  </a:lnTo>
                  <a:lnTo>
                    <a:pt x="0" y="1148274"/>
                  </a:lnTo>
                  <a:close/>
                </a:path>
              </a:pathLst>
            </a:custGeom>
            <a:solidFill>
              <a:srgbClr val="6F7D6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931106" cy="1176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5717121" y="6941052"/>
            <a:ext cx="2715079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EFE9E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콘텐츠 구성의 아쉬움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17121" y="4120127"/>
            <a:ext cx="731749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652"/>
              </a:lnSpc>
              <a:spcBef>
                <a:spcPct val="0"/>
              </a:spcBef>
            </a:pPr>
            <a:r>
              <a:rPr lang="en-US" sz="3600" u="none">
                <a:solidFill>
                  <a:srgbClr val="EFE9E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02</a:t>
            </a:r>
          </a:p>
        </p:txBody>
      </p:sp>
      <p:sp>
        <p:nvSpPr>
          <p:cNvPr name="AutoShape 22" id="22"/>
          <p:cNvSpPr/>
          <p:nvPr/>
        </p:nvSpPr>
        <p:spPr>
          <a:xfrm>
            <a:off x="1752469" y="5124450"/>
            <a:ext cx="3211576" cy="0"/>
          </a:xfrm>
          <a:prstGeom prst="line">
            <a:avLst/>
          </a:prstGeom>
          <a:ln cap="flat" w="19050">
            <a:solidFill>
              <a:srgbClr val="EFE9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5717121" y="5124450"/>
            <a:ext cx="3211576" cy="0"/>
          </a:xfrm>
          <a:prstGeom prst="line">
            <a:avLst/>
          </a:prstGeom>
          <a:ln cap="flat" w="19050">
            <a:solidFill>
              <a:srgbClr val="EFE9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9681772" y="5124450"/>
            <a:ext cx="3211576" cy="0"/>
          </a:xfrm>
          <a:prstGeom prst="line">
            <a:avLst/>
          </a:prstGeom>
          <a:ln cap="flat" w="19050">
            <a:solidFill>
              <a:srgbClr val="EFE9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3646424" y="5124450"/>
            <a:ext cx="3211576" cy="0"/>
          </a:xfrm>
          <a:prstGeom prst="line">
            <a:avLst/>
          </a:prstGeom>
          <a:ln cap="flat" w="19050">
            <a:solidFill>
              <a:srgbClr val="EFE9E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428750" y="1170639"/>
            <a:ext cx="3964651" cy="2012610"/>
            <a:chOff x="0" y="0"/>
            <a:chExt cx="5286202" cy="2683480"/>
          </a:xfrm>
        </p:grpSpPr>
        <p:sp>
          <p:nvSpPr>
            <p:cNvPr name="AutoShape 27" id="27"/>
            <p:cNvSpPr/>
            <p:nvPr/>
          </p:nvSpPr>
          <p:spPr>
            <a:xfrm>
              <a:off x="0" y="38100"/>
              <a:ext cx="5286202" cy="0"/>
            </a:xfrm>
            <a:prstGeom prst="line">
              <a:avLst/>
            </a:prstGeom>
            <a:ln cap="flat" w="76200">
              <a:solidFill>
                <a:srgbClr val="6F7D6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0" y="2670780"/>
              <a:ext cx="5286202" cy="0"/>
            </a:xfrm>
            <a:prstGeom prst="line">
              <a:avLst/>
            </a:prstGeom>
            <a:ln cap="flat" w="25400">
              <a:solidFill>
                <a:srgbClr val="6F7D6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428750" y="1567344"/>
            <a:ext cx="4478188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기획 배경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12192000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0388" t="0" r="20388" b="0"/>
            <a:stretch>
              <a:fillRect/>
            </a:stretch>
          </p:blipFill>
          <p:spPr>
            <a:xfrm flipH="false" flipV="false">
              <a:off x="0" y="0"/>
              <a:ext cx="12192000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428750" y="1170639"/>
            <a:ext cx="1909145" cy="2012610"/>
            <a:chOff x="0" y="0"/>
            <a:chExt cx="2545526" cy="2683480"/>
          </a:xfrm>
        </p:grpSpPr>
        <p:sp>
          <p:nvSpPr>
            <p:cNvPr name="AutoShape 5" id="5"/>
            <p:cNvSpPr/>
            <p:nvPr/>
          </p:nvSpPr>
          <p:spPr>
            <a:xfrm>
              <a:off x="0" y="38100"/>
              <a:ext cx="2545526" cy="0"/>
            </a:xfrm>
            <a:prstGeom prst="line">
              <a:avLst/>
            </a:prstGeom>
            <a:ln cap="flat" w="76200">
              <a:solidFill>
                <a:srgbClr val="6F7D6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>
              <a:off x="0" y="2670780"/>
              <a:ext cx="2545526" cy="0"/>
            </a:xfrm>
            <a:prstGeom prst="line">
              <a:avLst/>
            </a:prstGeom>
            <a:ln cap="flat" w="25400">
              <a:solidFill>
                <a:srgbClr val="6F7D6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428750" y="4440137"/>
            <a:ext cx="150861" cy="15086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7D6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890864" y="4175866"/>
            <a:ext cx="6229831" cy="3103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353535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SW19는 단순한 향수가 아니라,</a:t>
            </a: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353535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시간과 기억을 담은 브랜드입니다.</a:t>
            </a:r>
          </a:p>
          <a:p>
            <a:pPr algn="l">
              <a:lnSpc>
                <a:spcPts val="4199"/>
              </a:lnSpc>
            </a:pPr>
          </a:p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353535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기존 웹사이트는 브랜드의 철학과 감성을 충분히 전달하지 못했고, 고객 경험 측면에서도 아쉬운 점이 많았습니다.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8750" y="1567344"/>
            <a:ext cx="4478188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기획 배경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28750" y="5994263"/>
            <a:ext cx="150861" cy="15086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7D6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FE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8750" y="1170639"/>
            <a:ext cx="2950701" cy="2012610"/>
            <a:chOff x="0" y="0"/>
            <a:chExt cx="3934268" cy="2683480"/>
          </a:xfrm>
        </p:grpSpPr>
        <p:sp>
          <p:nvSpPr>
            <p:cNvPr name="AutoShape 3" id="3"/>
            <p:cNvSpPr/>
            <p:nvPr/>
          </p:nvSpPr>
          <p:spPr>
            <a:xfrm>
              <a:off x="0" y="38100"/>
              <a:ext cx="3934268" cy="0"/>
            </a:xfrm>
            <a:prstGeom prst="line">
              <a:avLst/>
            </a:prstGeom>
            <a:ln cap="flat" w="76200">
              <a:solidFill>
                <a:srgbClr val="6F7D6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0" y="2670780"/>
              <a:ext cx="3934268" cy="0"/>
            </a:xfrm>
            <a:prstGeom prst="line">
              <a:avLst/>
            </a:prstGeom>
            <a:ln cap="flat" w="25400">
              <a:solidFill>
                <a:srgbClr val="6F7D6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7600950" y="505614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4A3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880"/>
                </a:lnSpc>
              </a:pPr>
              <a:r>
                <a:rPr lang="en-US" sz="4200">
                  <a:solidFill>
                    <a:srgbClr val="FFFFFF"/>
                  </a:solidFill>
                  <a:latin typeface="Source Han Serif KR"/>
                  <a:ea typeface="Source Han Serif KR"/>
                  <a:cs typeface="Source Han Serif KR"/>
                  <a:sym typeface="Source Han Serif KR"/>
                </a:rPr>
                <a:t>SW19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28750" y="4256668"/>
            <a:ext cx="2812883" cy="1199892"/>
            <a:chOff x="0" y="0"/>
            <a:chExt cx="740842" cy="3160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40842" cy="316021"/>
            </a:xfrm>
            <a:custGeom>
              <a:avLst/>
              <a:gdLst/>
              <a:ahLst/>
              <a:cxnLst/>
              <a:rect r="r" b="b" t="t" l="l"/>
              <a:pathLst>
                <a:path h="316021" w="740842">
                  <a:moveTo>
                    <a:pt x="0" y="0"/>
                  </a:moveTo>
                  <a:lnTo>
                    <a:pt x="740842" y="0"/>
                  </a:lnTo>
                  <a:lnTo>
                    <a:pt x="740842" y="316021"/>
                  </a:lnTo>
                  <a:lnTo>
                    <a:pt x="0" y="3160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6F7D6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740842" cy="363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Source Han Serif KR"/>
                  <a:ea typeface="Source Han Serif KR"/>
                  <a:cs typeface="Source Han Serif KR"/>
                  <a:sym typeface="Source Han Serif KR"/>
                </a:rPr>
                <a:t>ABOUT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93342" y="4256668"/>
            <a:ext cx="2812883" cy="1199892"/>
            <a:chOff x="0" y="0"/>
            <a:chExt cx="740842" cy="31602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40842" cy="316021"/>
            </a:xfrm>
            <a:custGeom>
              <a:avLst/>
              <a:gdLst/>
              <a:ahLst/>
              <a:cxnLst/>
              <a:rect r="r" b="b" t="t" l="l"/>
              <a:pathLst>
                <a:path h="316021" w="740842">
                  <a:moveTo>
                    <a:pt x="0" y="0"/>
                  </a:moveTo>
                  <a:lnTo>
                    <a:pt x="740842" y="0"/>
                  </a:lnTo>
                  <a:lnTo>
                    <a:pt x="740842" y="316021"/>
                  </a:lnTo>
                  <a:lnTo>
                    <a:pt x="0" y="3160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6F7D6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740842" cy="363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Source Han Serif KR"/>
                  <a:ea typeface="Source Han Serif KR"/>
                  <a:cs typeface="Source Han Serif KR"/>
                  <a:sym typeface="Source Han Serif KR"/>
                </a:rPr>
                <a:t>COMMNUITY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583154" y="4256668"/>
            <a:ext cx="2812883" cy="1199892"/>
            <a:chOff x="0" y="0"/>
            <a:chExt cx="740842" cy="31602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40842" cy="316021"/>
            </a:xfrm>
            <a:custGeom>
              <a:avLst/>
              <a:gdLst/>
              <a:ahLst/>
              <a:cxnLst/>
              <a:rect r="r" b="b" t="t" l="l"/>
              <a:pathLst>
                <a:path h="316021" w="740842">
                  <a:moveTo>
                    <a:pt x="0" y="0"/>
                  </a:moveTo>
                  <a:lnTo>
                    <a:pt x="740842" y="0"/>
                  </a:lnTo>
                  <a:lnTo>
                    <a:pt x="740842" y="316021"/>
                  </a:lnTo>
                  <a:lnTo>
                    <a:pt x="0" y="3160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6F7D6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740842" cy="363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Source Han Serif KR"/>
                  <a:ea typeface="Source Han Serif KR"/>
                  <a:cs typeface="Source Han Serif KR"/>
                  <a:sym typeface="Source Han Serif KR"/>
                </a:rPr>
                <a:t>PERFUME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049125" y="4256668"/>
            <a:ext cx="2812883" cy="1199892"/>
            <a:chOff x="0" y="0"/>
            <a:chExt cx="740842" cy="3160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40842" cy="316021"/>
            </a:xfrm>
            <a:custGeom>
              <a:avLst/>
              <a:gdLst/>
              <a:ahLst/>
              <a:cxnLst/>
              <a:rect r="r" b="b" t="t" l="l"/>
              <a:pathLst>
                <a:path h="316021" w="740842">
                  <a:moveTo>
                    <a:pt x="0" y="0"/>
                  </a:moveTo>
                  <a:lnTo>
                    <a:pt x="740842" y="0"/>
                  </a:lnTo>
                  <a:lnTo>
                    <a:pt x="740842" y="316021"/>
                  </a:lnTo>
                  <a:lnTo>
                    <a:pt x="0" y="3160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6F7D6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740842" cy="363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Source Han Serif KR"/>
                  <a:ea typeface="Source Han Serif KR"/>
                  <a:cs typeface="Source Han Serif KR"/>
                  <a:sym typeface="Source Han Serif KR"/>
                </a:rPr>
                <a:t>MEMBERSHIP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737558" y="4256668"/>
            <a:ext cx="2812883" cy="1199892"/>
            <a:chOff x="0" y="0"/>
            <a:chExt cx="740842" cy="31602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40842" cy="316021"/>
            </a:xfrm>
            <a:custGeom>
              <a:avLst/>
              <a:gdLst/>
              <a:ahLst/>
              <a:cxnLst/>
              <a:rect r="r" b="b" t="t" l="l"/>
              <a:pathLst>
                <a:path h="316021" w="740842">
                  <a:moveTo>
                    <a:pt x="0" y="0"/>
                  </a:moveTo>
                  <a:lnTo>
                    <a:pt x="740842" y="0"/>
                  </a:lnTo>
                  <a:lnTo>
                    <a:pt x="740842" y="316021"/>
                  </a:lnTo>
                  <a:lnTo>
                    <a:pt x="0" y="3160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6F7D6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40842" cy="363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Source Han Serif KR"/>
                  <a:ea typeface="Source Han Serif KR"/>
                  <a:cs typeface="Source Han Serif KR"/>
                  <a:sym typeface="Source Han Serif KR"/>
                </a:rPr>
                <a:t>STORE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28750" y="1567344"/>
            <a:ext cx="525136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메뉴 구성</a:t>
            </a:r>
          </a:p>
        </p:txBody>
      </p:sp>
      <p:sp>
        <p:nvSpPr>
          <p:cNvPr name="AutoShape 24" id="24"/>
          <p:cNvSpPr/>
          <p:nvPr/>
        </p:nvSpPr>
        <p:spPr>
          <a:xfrm flipH="true" flipV="true">
            <a:off x="12299783" y="5456560"/>
            <a:ext cx="9525" cy="1816858"/>
          </a:xfrm>
          <a:prstGeom prst="line">
            <a:avLst/>
          </a:prstGeom>
          <a:ln cap="flat" w="19050">
            <a:solidFill>
              <a:srgbClr val="6F7D6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2309308" y="6224023"/>
            <a:ext cx="2822785" cy="1068445"/>
          </a:xfrm>
          <a:prstGeom prst="line">
            <a:avLst/>
          </a:prstGeom>
          <a:ln cap="flat" w="19050">
            <a:solidFill>
              <a:srgbClr val="6F7D6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0893342" y="7273418"/>
            <a:ext cx="2812883" cy="1199892"/>
            <a:chOff x="0" y="0"/>
            <a:chExt cx="740842" cy="31602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40842" cy="316021"/>
            </a:xfrm>
            <a:custGeom>
              <a:avLst/>
              <a:gdLst/>
              <a:ahLst/>
              <a:cxnLst/>
              <a:rect r="r" b="b" t="t" l="l"/>
              <a:pathLst>
                <a:path h="316021" w="740842">
                  <a:moveTo>
                    <a:pt x="0" y="0"/>
                  </a:moveTo>
                  <a:lnTo>
                    <a:pt x="740842" y="0"/>
                  </a:lnTo>
                  <a:lnTo>
                    <a:pt x="740842" y="316021"/>
                  </a:lnTo>
                  <a:lnTo>
                    <a:pt x="0" y="3160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6F7D6F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740842" cy="363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Source Han Serif KR"/>
                  <a:ea typeface="Source Han Serif KR"/>
                  <a:cs typeface="Source Han Serif KR"/>
                  <a:sym typeface="Source Han Serif KR"/>
                </a:rPr>
                <a:t>FLAGSHIP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049125" y="7292468"/>
            <a:ext cx="2812883" cy="1695192"/>
            <a:chOff x="0" y="0"/>
            <a:chExt cx="740842" cy="4464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40842" cy="446470"/>
            </a:xfrm>
            <a:custGeom>
              <a:avLst/>
              <a:gdLst/>
              <a:ahLst/>
              <a:cxnLst/>
              <a:rect r="r" b="b" t="t" l="l"/>
              <a:pathLst>
                <a:path h="446470" w="740842">
                  <a:moveTo>
                    <a:pt x="0" y="0"/>
                  </a:moveTo>
                  <a:lnTo>
                    <a:pt x="740842" y="0"/>
                  </a:lnTo>
                  <a:lnTo>
                    <a:pt x="740842" y="446470"/>
                  </a:lnTo>
                  <a:lnTo>
                    <a:pt x="0" y="4464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6F7D6F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740842" cy="494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Source Han Serif KR"/>
                  <a:ea typeface="Source Han Serif KR"/>
                  <a:cs typeface="Source Han Serif KR"/>
                  <a:sym typeface="Source Han Serif KR"/>
                </a:rPr>
                <a:t>ON/OFF STORE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8750" y="1170639"/>
            <a:ext cx="5251360" cy="2012610"/>
            <a:chOff x="0" y="0"/>
            <a:chExt cx="7001814" cy="2683480"/>
          </a:xfrm>
        </p:grpSpPr>
        <p:sp>
          <p:nvSpPr>
            <p:cNvPr name="AutoShape 3" id="3"/>
            <p:cNvSpPr/>
            <p:nvPr/>
          </p:nvSpPr>
          <p:spPr>
            <a:xfrm>
              <a:off x="0" y="38100"/>
              <a:ext cx="7001814" cy="0"/>
            </a:xfrm>
            <a:prstGeom prst="line">
              <a:avLst/>
            </a:prstGeom>
            <a:ln cap="flat" w="76200">
              <a:solidFill>
                <a:srgbClr val="6F7D6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0" y="2670780"/>
              <a:ext cx="7001814" cy="0"/>
            </a:xfrm>
            <a:prstGeom prst="line">
              <a:avLst/>
            </a:prstGeom>
            <a:ln cap="flat" w="25400">
              <a:solidFill>
                <a:srgbClr val="6F7D6F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428750" y="3885039"/>
            <a:ext cx="150861" cy="15086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7D6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66706" y="1678813"/>
            <a:ext cx="150861" cy="15086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7D6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66706" y="6054157"/>
            <a:ext cx="150861" cy="15086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7D6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28750" y="6270418"/>
            <a:ext cx="150861" cy="15086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7D6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28750" y="8256087"/>
            <a:ext cx="150861" cy="15086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F7D6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7619341" y="7198826"/>
            <a:ext cx="820132" cy="2059474"/>
          </a:xfrm>
          <a:custGeom>
            <a:avLst/>
            <a:gdLst/>
            <a:ahLst/>
            <a:cxnLst/>
            <a:rect r="r" b="b" t="t" l="l"/>
            <a:pathLst>
              <a:path h="2059474" w="820132">
                <a:moveTo>
                  <a:pt x="0" y="0"/>
                </a:moveTo>
                <a:lnTo>
                  <a:pt x="820132" y="0"/>
                </a:lnTo>
                <a:lnTo>
                  <a:pt x="820132" y="2059474"/>
                </a:lnTo>
                <a:lnTo>
                  <a:pt x="0" y="20594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4011" t="0" r="-2028017" b="-299597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062431" y="7198826"/>
            <a:ext cx="884318" cy="2059474"/>
          </a:xfrm>
          <a:custGeom>
            <a:avLst/>
            <a:gdLst/>
            <a:ahLst/>
            <a:cxnLst/>
            <a:rect r="r" b="b" t="t" l="l"/>
            <a:pathLst>
              <a:path h="2059474" w="884318">
                <a:moveTo>
                  <a:pt x="0" y="0"/>
                </a:moveTo>
                <a:lnTo>
                  <a:pt x="884318" y="0"/>
                </a:lnTo>
                <a:lnTo>
                  <a:pt x="884318" y="2059474"/>
                </a:lnTo>
                <a:lnTo>
                  <a:pt x="0" y="20594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659552" b="-226144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428750" y="1567344"/>
            <a:ext cx="525136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디자인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58859" y="3677534"/>
            <a:ext cx="6229831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컨셉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99576" y="6062912"/>
            <a:ext cx="6229831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메인 컬러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99576" y="8048581"/>
            <a:ext cx="6229831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서브 컬러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58859" y="4313129"/>
            <a:ext cx="6625846" cy="1472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600">
                <a:solidFill>
                  <a:srgbClr val="353535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숲에서 영감을 받은 따뜻한 감성 향수</a:t>
            </a:r>
          </a:p>
          <a:p>
            <a:pPr algn="l">
              <a:lnSpc>
                <a:spcPts val="3900"/>
              </a:lnSpc>
            </a:pPr>
            <a:r>
              <a:rPr lang="en-US" sz="2600">
                <a:solidFill>
                  <a:srgbClr val="353535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윔블던 자연의 기억을 담은 브랜드</a:t>
            </a:r>
          </a:p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0633454" y="1413504"/>
            <a:ext cx="6625846" cy="3453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600">
                <a:solidFill>
                  <a:srgbClr val="353535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Marcellus (영문)</a:t>
            </a:r>
          </a:p>
          <a:p>
            <a:pPr algn="l">
              <a:lnSpc>
                <a:spcPts val="3900"/>
              </a:lnSpc>
            </a:pPr>
            <a:r>
              <a:rPr lang="en-US" sz="2600">
                <a:solidFill>
                  <a:srgbClr val="353535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Serif (명조체)</a:t>
            </a:r>
          </a:p>
          <a:p>
            <a:pPr algn="l">
              <a:lnSpc>
                <a:spcPts val="3900"/>
              </a:lnSpc>
            </a:pPr>
          </a:p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353535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고전적이면서도 클래식 느낌</a:t>
            </a:r>
          </a:p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353535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우아하지만 무겁지 않음</a:t>
            </a:r>
          </a:p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353535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제목이나 슬로건에 사용</a:t>
            </a:r>
          </a:p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0633454" y="5804535"/>
            <a:ext cx="6625846" cy="3453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600">
                <a:solidFill>
                  <a:srgbClr val="353535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Roboto (한글)</a:t>
            </a:r>
          </a:p>
          <a:p>
            <a:pPr algn="l">
              <a:lnSpc>
                <a:spcPts val="3900"/>
              </a:lnSpc>
            </a:pPr>
            <a:r>
              <a:rPr lang="en-US" sz="2600">
                <a:solidFill>
                  <a:srgbClr val="353535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 Sans-serif (고딕체)</a:t>
            </a:r>
          </a:p>
          <a:p>
            <a:pPr algn="l">
              <a:lnSpc>
                <a:spcPts val="3900"/>
              </a:lnSpc>
            </a:pPr>
          </a:p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353535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가독성이 좋아 본문용에 적합</a:t>
            </a:r>
          </a:p>
          <a:p>
            <a:pPr algn="l" marL="561341" indent="-280670" lvl="1">
              <a:lnSpc>
                <a:spcPts val="3900"/>
              </a:lnSpc>
              <a:buFont typeface="Arial"/>
              <a:buChar char="•"/>
            </a:pPr>
            <a:r>
              <a:rPr lang="en-US" sz="2600">
                <a:solidFill>
                  <a:srgbClr val="353535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SW19</a:t>
            </a:r>
            <a:r>
              <a:rPr lang="en-US" sz="2600">
                <a:solidFill>
                  <a:srgbClr val="353535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 같은 미니멀하고 감각적인 브랜드에 잘 어울림</a:t>
            </a:r>
          </a:p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799576" y="6588959"/>
            <a:ext cx="6776709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2600">
                <a:solidFill>
                  <a:srgbClr val="353535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#2D4A35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99576" y="7113101"/>
            <a:ext cx="6776709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2600">
                <a:solidFill>
                  <a:srgbClr val="353535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숲과 연결된 브랜드 아이덴티티 강조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99576" y="8570551"/>
            <a:ext cx="6776709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sz="2600">
                <a:solidFill>
                  <a:srgbClr val="353535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단순한 무채색이 아닌 패턴을 사용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8750" y="1170639"/>
            <a:ext cx="1909145" cy="2012610"/>
            <a:chOff x="0" y="0"/>
            <a:chExt cx="2545526" cy="2683480"/>
          </a:xfrm>
        </p:grpSpPr>
        <p:sp>
          <p:nvSpPr>
            <p:cNvPr name="AutoShape 3" id="3"/>
            <p:cNvSpPr/>
            <p:nvPr/>
          </p:nvSpPr>
          <p:spPr>
            <a:xfrm>
              <a:off x="0" y="38100"/>
              <a:ext cx="2545526" cy="0"/>
            </a:xfrm>
            <a:prstGeom prst="line">
              <a:avLst/>
            </a:prstGeom>
            <a:ln cap="flat" w="76200">
              <a:solidFill>
                <a:srgbClr val="6F7D6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0" y="2670780"/>
              <a:ext cx="2545526" cy="0"/>
            </a:xfrm>
            <a:prstGeom prst="line">
              <a:avLst/>
            </a:prstGeom>
            <a:ln cap="flat" w="25400">
              <a:solidFill>
                <a:srgbClr val="6F7D6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079039" y="0"/>
            <a:ext cx="5435354" cy="10282306"/>
          </a:xfrm>
          <a:custGeom>
            <a:avLst/>
            <a:gdLst/>
            <a:ahLst/>
            <a:cxnLst/>
            <a:rect r="r" b="b" t="t" l="l"/>
            <a:pathLst>
              <a:path h="10282306" w="5435354">
                <a:moveTo>
                  <a:pt x="0" y="0"/>
                </a:moveTo>
                <a:lnTo>
                  <a:pt x="5435354" y="0"/>
                </a:lnTo>
                <a:lnTo>
                  <a:pt x="5435354" y="10282306"/>
                </a:lnTo>
                <a:lnTo>
                  <a:pt x="0" y="10282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62" t="0" r="-3362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43031" y="0"/>
            <a:ext cx="2298583" cy="10272999"/>
          </a:xfrm>
          <a:custGeom>
            <a:avLst/>
            <a:gdLst/>
            <a:ahLst/>
            <a:cxnLst/>
            <a:rect r="r" b="b" t="t" l="l"/>
            <a:pathLst>
              <a:path h="10272999" w="2298583">
                <a:moveTo>
                  <a:pt x="0" y="0"/>
                </a:moveTo>
                <a:lnTo>
                  <a:pt x="2298584" y="0"/>
                </a:lnTo>
                <a:lnTo>
                  <a:pt x="2298584" y="10272999"/>
                </a:lnTo>
                <a:lnTo>
                  <a:pt x="0" y="10272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28750" y="1567344"/>
            <a:ext cx="4478188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화면 설계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8750" y="4533900"/>
            <a:ext cx="4478188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index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8750" y="1170639"/>
            <a:ext cx="1909145" cy="2012610"/>
            <a:chOff x="0" y="0"/>
            <a:chExt cx="2545526" cy="2683480"/>
          </a:xfrm>
        </p:grpSpPr>
        <p:sp>
          <p:nvSpPr>
            <p:cNvPr name="AutoShape 3" id="3"/>
            <p:cNvSpPr/>
            <p:nvPr/>
          </p:nvSpPr>
          <p:spPr>
            <a:xfrm>
              <a:off x="0" y="38100"/>
              <a:ext cx="2545526" cy="0"/>
            </a:xfrm>
            <a:prstGeom prst="line">
              <a:avLst/>
            </a:prstGeom>
            <a:ln cap="flat" w="76200">
              <a:solidFill>
                <a:srgbClr val="6F7D6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0" y="2670780"/>
              <a:ext cx="2545526" cy="0"/>
            </a:xfrm>
            <a:prstGeom prst="line">
              <a:avLst/>
            </a:prstGeom>
            <a:ln cap="flat" w="25400">
              <a:solidFill>
                <a:srgbClr val="6F7D6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7740567" y="10239"/>
            <a:ext cx="2916492" cy="10278386"/>
          </a:xfrm>
          <a:custGeom>
            <a:avLst/>
            <a:gdLst/>
            <a:ahLst/>
            <a:cxnLst/>
            <a:rect r="r" b="b" t="t" l="l"/>
            <a:pathLst>
              <a:path h="10278386" w="2916492">
                <a:moveTo>
                  <a:pt x="0" y="0"/>
                </a:moveTo>
                <a:lnTo>
                  <a:pt x="2916491" y="0"/>
                </a:lnTo>
                <a:lnTo>
                  <a:pt x="2916491" y="10278385"/>
                </a:lnTo>
                <a:lnTo>
                  <a:pt x="0" y="10278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46441" y="-12908"/>
            <a:ext cx="2206314" cy="10321935"/>
          </a:xfrm>
          <a:custGeom>
            <a:avLst/>
            <a:gdLst/>
            <a:ahLst/>
            <a:cxnLst/>
            <a:rect r="r" b="b" t="t" l="l"/>
            <a:pathLst>
              <a:path h="10321935" w="2206314">
                <a:moveTo>
                  <a:pt x="0" y="0"/>
                </a:moveTo>
                <a:lnTo>
                  <a:pt x="2206314" y="0"/>
                </a:lnTo>
                <a:lnTo>
                  <a:pt x="2206314" y="10321935"/>
                </a:lnTo>
                <a:lnTo>
                  <a:pt x="0" y="10321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28750" y="1567344"/>
            <a:ext cx="4478188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화면 설계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8750" y="4533900"/>
            <a:ext cx="4478188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about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8750" y="1170639"/>
            <a:ext cx="1909145" cy="2012610"/>
            <a:chOff x="0" y="0"/>
            <a:chExt cx="2545526" cy="2683480"/>
          </a:xfrm>
        </p:grpSpPr>
        <p:sp>
          <p:nvSpPr>
            <p:cNvPr name="AutoShape 3" id="3"/>
            <p:cNvSpPr/>
            <p:nvPr/>
          </p:nvSpPr>
          <p:spPr>
            <a:xfrm>
              <a:off x="0" y="38100"/>
              <a:ext cx="2545526" cy="0"/>
            </a:xfrm>
            <a:prstGeom prst="line">
              <a:avLst/>
            </a:prstGeom>
            <a:ln cap="flat" w="76200">
              <a:solidFill>
                <a:srgbClr val="6F7D6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0" y="2670780"/>
              <a:ext cx="2545526" cy="0"/>
            </a:xfrm>
            <a:prstGeom prst="line">
              <a:avLst/>
            </a:prstGeom>
            <a:ln cap="flat" w="25400">
              <a:solidFill>
                <a:srgbClr val="6F7D6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7208235" y="0"/>
            <a:ext cx="2289475" cy="10289774"/>
          </a:xfrm>
          <a:custGeom>
            <a:avLst/>
            <a:gdLst/>
            <a:ahLst/>
            <a:cxnLst/>
            <a:rect r="r" b="b" t="t" l="l"/>
            <a:pathLst>
              <a:path h="10289774" w="2289475">
                <a:moveTo>
                  <a:pt x="0" y="0"/>
                </a:moveTo>
                <a:lnTo>
                  <a:pt x="2289475" y="0"/>
                </a:lnTo>
                <a:lnTo>
                  <a:pt x="2289475" y="10289774"/>
                </a:lnTo>
                <a:lnTo>
                  <a:pt x="0" y="102897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90254" y="0"/>
            <a:ext cx="2292777" cy="10304616"/>
          </a:xfrm>
          <a:custGeom>
            <a:avLst/>
            <a:gdLst/>
            <a:ahLst/>
            <a:cxnLst/>
            <a:rect r="r" b="b" t="t" l="l"/>
            <a:pathLst>
              <a:path h="10304616" w="2292777">
                <a:moveTo>
                  <a:pt x="0" y="0"/>
                </a:moveTo>
                <a:lnTo>
                  <a:pt x="2292777" y="0"/>
                </a:lnTo>
                <a:lnTo>
                  <a:pt x="2292777" y="10304616"/>
                </a:lnTo>
                <a:lnTo>
                  <a:pt x="0" y="10304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28750" y="1567344"/>
            <a:ext cx="4478188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화면 설계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8750" y="4533900"/>
            <a:ext cx="4478188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about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8750" y="1170639"/>
            <a:ext cx="1909145" cy="2012610"/>
            <a:chOff x="0" y="0"/>
            <a:chExt cx="2545526" cy="2683480"/>
          </a:xfrm>
        </p:grpSpPr>
        <p:sp>
          <p:nvSpPr>
            <p:cNvPr name="AutoShape 3" id="3"/>
            <p:cNvSpPr/>
            <p:nvPr/>
          </p:nvSpPr>
          <p:spPr>
            <a:xfrm>
              <a:off x="0" y="38100"/>
              <a:ext cx="2545526" cy="0"/>
            </a:xfrm>
            <a:prstGeom prst="line">
              <a:avLst/>
            </a:prstGeom>
            <a:ln cap="flat" w="76200">
              <a:solidFill>
                <a:srgbClr val="6F7D6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0" y="2670780"/>
              <a:ext cx="2545526" cy="0"/>
            </a:xfrm>
            <a:prstGeom prst="line">
              <a:avLst/>
            </a:prstGeom>
            <a:ln cap="flat" w="25400">
              <a:solidFill>
                <a:srgbClr val="6F7D6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574449" y="1779221"/>
            <a:ext cx="5649747" cy="6356958"/>
          </a:xfrm>
          <a:custGeom>
            <a:avLst/>
            <a:gdLst/>
            <a:ahLst/>
            <a:cxnLst/>
            <a:rect r="r" b="b" t="t" l="l"/>
            <a:pathLst>
              <a:path h="6356958" w="5649747">
                <a:moveTo>
                  <a:pt x="0" y="0"/>
                </a:moveTo>
                <a:lnTo>
                  <a:pt x="5649746" y="0"/>
                </a:lnTo>
                <a:lnTo>
                  <a:pt x="5649746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91706" y="0"/>
            <a:ext cx="3735010" cy="10303475"/>
          </a:xfrm>
          <a:custGeom>
            <a:avLst/>
            <a:gdLst/>
            <a:ahLst/>
            <a:cxnLst/>
            <a:rect r="r" b="b" t="t" l="l"/>
            <a:pathLst>
              <a:path h="10303475" w="3735010">
                <a:moveTo>
                  <a:pt x="0" y="0"/>
                </a:moveTo>
                <a:lnTo>
                  <a:pt x="3735010" y="0"/>
                </a:lnTo>
                <a:lnTo>
                  <a:pt x="3735010" y="10303475"/>
                </a:lnTo>
                <a:lnTo>
                  <a:pt x="0" y="103034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28750" y="1567344"/>
            <a:ext cx="4478188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화면 설계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8750" y="4533900"/>
            <a:ext cx="4478188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STORE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8750" y="1170639"/>
            <a:ext cx="1909145" cy="2012610"/>
            <a:chOff x="0" y="0"/>
            <a:chExt cx="2545526" cy="2683480"/>
          </a:xfrm>
        </p:grpSpPr>
        <p:sp>
          <p:nvSpPr>
            <p:cNvPr name="AutoShape 3" id="3"/>
            <p:cNvSpPr/>
            <p:nvPr/>
          </p:nvSpPr>
          <p:spPr>
            <a:xfrm>
              <a:off x="0" y="38100"/>
              <a:ext cx="2545526" cy="0"/>
            </a:xfrm>
            <a:prstGeom prst="line">
              <a:avLst/>
            </a:prstGeom>
            <a:ln cap="flat" w="76200">
              <a:solidFill>
                <a:srgbClr val="6F7D6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0" y="2670780"/>
              <a:ext cx="2545526" cy="0"/>
            </a:xfrm>
            <a:prstGeom prst="line">
              <a:avLst/>
            </a:prstGeom>
            <a:ln cap="flat" w="25400">
              <a:solidFill>
                <a:srgbClr val="6F7D6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367325" y="1965021"/>
            <a:ext cx="6039110" cy="6356958"/>
          </a:xfrm>
          <a:custGeom>
            <a:avLst/>
            <a:gdLst/>
            <a:ahLst/>
            <a:cxnLst/>
            <a:rect r="r" b="b" t="t" l="l"/>
            <a:pathLst>
              <a:path h="6356958" w="6039110">
                <a:moveTo>
                  <a:pt x="0" y="0"/>
                </a:moveTo>
                <a:lnTo>
                  <a:pt x="6039110" y="0"/>
                </a:lnTo>
                <a:lnTo>
                  <a:pt x="6039110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680755" y="1787734"/>
            <a:ext cx="5167879" cy="6711531"/>
          </a:xfrm>
          <a:custGeom>
            <a:avLst/>
            <a:gdLst/>
            <a:ahLst/>
            <a:cxnLst/>
            <a:rect r="r" b="b" t="t" l="l"/>
            <a:pathLst>
              <a:path h="6711531" w="5167879">
                <a:moveTo>
                  <a:pt x="0" y="0"/>
                </a:moveTo>
                <a:lnTo>
                  <a:pt x="5167879" y="0"/>
                </a:lnTo>
                <a:lnTo>
                  <a:pt x="5167879" y="6711532"/>
                </a:lnTo>
                <a:lnTo>
                  <a:pt x="0" y="67115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28750" y="1567344"/>
            <a:ext cx="4478188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화면 설계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8750" y="4533900"/>
            <a:ext cx="4478188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STORE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8750" y="1170639"/>
            <a:ext cx="1909145" cy="2012610"/>
            <a:chOff x="0" y="0"/>
            <a:chExt cx="2545526" cy="2683480"/>
          </a:xfrm>
        </p:grpSpPr>
        <p:sp>
          <p:nvSpPr>
            <p:cNvPr name="AutoShape 3" id="3"/>
            <p:cNvSpPr/>
            <p:nvPr/>
          </p:nvSpPr>
          <p:spPr>
            <a:xfrm>
              <a:off x="0" y="38100"/>
              <a:ext cx="2545526" cy="0"/>
            </a:xfrm>
            <a:prstGeom prst="line">
              <a:avLst/>
            </a:prstGeom>
            <a:ln cap="flat" w="76200">
              <a:solidFill>
                <a:srgbClr val="6F7D6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0" y="2670780"/>
              <a:ext cx="2545526" cy="0"/>
            </a:xfrm>
            <a:prstGeom prst="line">
              <a:avLst/>
            </a:prstGeom>
            <a:ln cap="flat" w="25400">
              <a:solidFill>
                <a:srgbClr val="6F7D6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521498" y="4769"/>
            <a:ext cx="5737829" cy="10246122"/>
          </a:xfrm>
          <a:custGeom>
            <a:avLst/>
            <a:gdLst/>
            <a:ahLst/>
            <a:cxnLst/>
            <a:rect r="r" b="b" t="t" l="l"/>
            <a:pathLst>
              <a:path h="10246122" w="5737829">
                <a:moveTo>
                  <a:pt x="0" y="0"/>
                </a:moveTo>
                <a:lnTo>
                  <a:pt x="5737829" y="0"/>
                </a:lnTo>
                <a:lnTo>
                  <a:pt x="5737829" y="10246123"/>
                </a:lnTo>
                <a:lnTo>
                  <a:pt x="0" y="102461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518922" y="-64"/>
            <a:ext cx="4204614" cy="10255155"/>
          </a:xfrm>
          <a:custGeom>
            <a:avLst/>
            <a:gdLst/>
            <a:ahLst/>
            <a:cxnLst/>
            <a:rect r="r" b="b" t="t" l="l"/>
            <a:pathLst>
              <a:path h="10255155" w="4204614">
                <a:moveTo>
                  <a:pt x="0" y="0"/>
                </a:moveTo>
                <a:lnTo>
                  <a:pt x="4204614" y="0"/>
                </a:lnTo>
                <a:lnTo>
                  <a:pt x="4204614" y="10255155"/>
                </a:lnTo>
                <a:lnTo>
                  <a:pt x="0" y="102551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28750" y="1567344"/>
            <a:ext cx="4478188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화면 설계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8750" y="4533900"/>
            <a:ext cx="4478188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COMMUNITY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8750" y="1170639"/>
            <a:ext cx="1909145" cy="2012610"/>
            <a:chOff x="0" y="0"/>
            <a:chExt cx="2545526" cy="2683480"/>
          </a:xfrm>
        </p:grpSpPr>
        <p:sp>
          <p:nvSpPr>
            <p:cNvPr name="AutoShape 3" id="3"/>
            <p:cNvSpPr/>
            <p:nvPr/>
          </p:nvSpPr>
          <p:spPr>
            <a:xfrm>
              <a:off x="0" y="38100"/>
              <a:ext cx="2545526" cy="0"/>
            </a:xfrm>
            <a:prstGeom prst="line">
              <a:avLst/>
            </a:prstGeom>
            <a:ln cap="flat" w="76200">
              <a:solidFill>
                <a:srgbClr val="6F7D6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0" y="2670780"/>
              <a:ext cx="2545526" cy="0"/>
            </a:xfrm>
            <a:prstGeom prst="line">
              <a:avLst/>
            </a:prstGeom>
            <a:ln cap="flat" w="25400">
              <a:solidFill>
                <a:srgbClr val="6F7D6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605531" y="4769"/>
            <a:ext cx="5524763" cy="10278628"/>
          </a:xfrm>
          <a:custGeom>
            <a:avLst/>
            <a:gdLst/>
            <a:ahLst/>
            <a:cxnLst/>
            <a:rect r="r" b="b" t="t" l="l"/>
            <a:pathLst>
              <a:path h="10278628" w="5524763">
                <a:moveTo>
                  <a:pt x="0" y="0"/>
                </a:moveTo>
                <a:lnTo>
                  <a:pt x="5524762" y="0"/>
                </a:lnTo>
                <a:lnTo>
                  <a:pt x="5524762" y="10278629"/>
                </a:lnTo>
                <a:lnTo>
                  <a:pt x="0" y="102786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43134" y="0"/>
            <a:ext cx="4408816" cy="10313019"/>
          </a:xfrm>
          <a:custGeom>
            <a:avLst/>
            <a:gdLst/>
            <a:ahLst/>
            <a:cxnLst/>
            <a:rect r="r" b="b" t="t" l="l"/>
            <a:pathLst>
              <a:path h="10313019" w="4408816">
                <a:moveTo>
                  <a:pt x="0" y="0"/>
                </a:moveTo>
                <a:lnTo>
                  <a:pt x="4408816" y="0"/>
                </a:lnTo>
                <a:lnTo>
                  <a:pt x="4408816" y="10313019"/>
                </a:lnTo>
                <a:lnTo>
                  <a:pt x="0" y="103130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28750" y="1567344"/>
            <a:ext cx="4478188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화면 설계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28750" y="4533900"/>
            <a:ext cx="4478188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MEMBERSHIP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72705" y="0"/>
            <a:ext cx="11959001" cy="10576637"/>
            <a:chOff x="0" y="0"/>
            <a:chExt cx="3149696" cy="27856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49696" cy="2785616"/>
            </a:xfrm>
            <a:custGeom>
              <a:avLst/>
              <a:gdLst/>
              <a:ahLst/>
              <a:cxnLst/>
              <a:rect r="r" b="b" t="t" l="l"/>
              <a:pathLst>
                <a:path h="2785616" w="3149696">
                  <a:moveTo>
                    <a:pt x="0" y="0"/>
                  </a:moveTo>
                  <a:lnTo>
                    <a:pt x="3149696" y="0"/>
                  </a:lnTo>
                  <a:lnTo>
                    <a:pt x="3149696" y="2785616"/>
                  </a:lnTo>
                  <a:lnTo>
                    <a:pt x="0" y="2785616"/>
                  </a:lnTo>
                  <a:close/>
                </a:path>
              </a:pathLst>
            </a:custGeom>
            <a:solidFill>
              <a:srgbClr val="6F7D6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3149696" cy="2833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28750" y="1170639"/>
            <a:ext cx="2833180" cy="2012610"/>
            <a:chOff x="0" y="0"/>
            <a:chExt cx="3777573" cy="2683480"/>
          </a:xfrm>
        </p:grpSpPr>
        <p:sp>
          <p:nvSpPr>
            <p:cNvPr name="AutoShape 6" id="6"/>
            <p:cNvSpPr/>
            <p:nvPr/>
          </p:nvSpPr>
          <p:spPr>
            <a:xfrm>
              <a:off x="0" y="38100"/>
              <a:ext cx="3777573" cy="0"/>
            </a:xfrm>
            <a:prstGeom prst="line">
              <a:avLst/>
            </a:prstGeom>
            <a:ln cap="flat" w="76200">
              <a:solidFill>
                <a:srgbClr val="6F7D6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>
              <a:off x="0" y="2670780"/>
              <a:ext cx="3777573" cy="0"/>
            </a:xfrm>
            <a:prstGeom prst="line">
              <a:avLst/>
            </a:prstGeom>
            <a:ln cap="flat" w="25400">
              <a:solidFill>
                <a:srgbClr val="6F7D6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488984" y="4015687"/>
            <a:ext cx="644322" cy="644322"/>
          </a:xfrm>
          <a:custGeom>
            <a:avLst/>
            <a:gdLst/>
            <a:ahLst/>
            <a:cxnLst/>
            <a:rect r="r" b="b" t="t" l="l"/>
            <a:pathLst>
              <a:path h="644322" w="644322">
                <a:moveTo>
                  <a:pt x="0" y="0"/>
                </a:moveTo>
                <a:lnTo>
                  <a:pt x="644321" y="0"/>
                </a:lnTo>
                <a:lnTo>
                  <a:pt x="644321" y="644321"/>
                </a:lnTo>
                <a:lnTo>
                  <a:pt x="0" y="644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28750" y="1567344"/>
            <a:ext cx="4478188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구현파일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45147" y="3879378"/>
            <a:ext cx="7354741" cy="897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u="sng">
                <a:solidFill>
                  <a:srgbClr val="F6F2EA"/>
                </a:solidFill>
                <a:latin typeface="Source Han Serif KR"/>
                <a:ea typeface="Source Han Serif KR"/>
                <a:cs typeface="Source Han Serif KR"/>
                <a:sym typeface="Source Han Serif KR"/>
                <a:hlinkClick r:id="rId4" tooltip="https://choicholho.github.io/SW19/"/>
              </a:rPr>
              <a:t>웹사이트</a:t>
            </a:r>
          </a:p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sz="2799" u="sng">
                <a:solidFill>
                  <a:srgbClr val="F6F2EA"/>
                </a:solidFill>
                <a:latin typeface="Source Han Serif KR"/>
                <a:ea typeface="Source Han Serif KR"/>
                <a:cs typeface="Source Han Serif KR"/>
                <a:sym typeface="Source Han Serif KR"/>
                <a:hlinkClick r:id="rId5" tooltip="https://choicholho.github.io/SW19/"/>
              </a:rPr>
              <a:t>https://choicholho.github.io/sw19/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EFE9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218162" y="3417718"/>
            <a:ext cx="5851676" cy="3451565"/>
            <a:chOff x="0" y="0"/>
            <a:chExt cx="7802235" cy="4602087"/>
          </a:xfrm>
        </p:grpSpPr>
        <p:sp>
          <p:nvSpPr>
            <p:cNvPr name="AutoShape 3" id="3"/>
            <p:cNvSpPr/>
            <p:nvPr/>
          </p:nvSpPr>
          <p:spPr>
            <a:xfrm>
              <a:off x="0" y="38100"/>
              <a:ext cx="7802235" cy="0"/>
            </a:xfrm>
            <a:prstGeom prst="line">
              <a:avLst/>
            </a:prstGeom>
            <a:ln cap="flat" w="76200">
              <a:solidFill>
                <a:srgbClr val="6F7D6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0" y="4589387"/>
              <a:ext cx="7802235" cy="0"/>
            </a:xfrm>
            <a:prstGeom prst="line">
              <a:avLst/>
            </a:prstGeom>
            <a:ln cap="flat" w="25400">
              <a:solidFill>
                <a:srgbClr val="6F7D6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6399491" y="4059407"/>
            <a:ext cx="5489017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000000"/>
                </a:solidFill>
                <a:latin typeface="Source Han Serif KR"/>
                <a:ea typeface="Source Han Serif KR"/>
                <a:cs typeface="Source Han Serif KR"/>
                <a:sym typeface="Source Han Serif KR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DAGqbhgJmVk</dc:identifier>
  <dcterms:modified xsi:type="dcterms:W3CDTF">2011-08-01T06:04:30Z</dcterms:modified>
  <cp:revision>1</cp:revision>
  <dc:title>베이지색과 녹색 배경 미니멀한 회사소개 프레젠테이션</dc:title>
</cp:coreProperties>
</file>